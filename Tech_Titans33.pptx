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adil" panose="020B0604020202020204" charset="-78"/>
      <p:regular r:id="rId8"/>
    </p:embeddedFont>
    <p:embeddedFont>
      <p:font typeface="Canva Sans Bold" panose="020B0604020202020204" charset="0"/>
      <p:regular r:id="rId9"/>
    </p:embeddedFont>
    <p:embeddedFont>
      <p:font typeface="DM Sans" pitchFamily="2" charset="0"/>
      <p:regular r:id="rId10"/>
      <p:bold r:id="rId11"/>
      <p:italic r:id="rId12"/>
      <p:boldItalic r:id="rId13"/>
    </p:embeddedFont>
    <p:embeddedFont>
      <p:font typeface="Goudy Bold" panose="020B0604020202020204" charset="0"/>
      <p:regular r:id="rId14"/>
    </p:embeddedFont>
    <p:embeddedFont>
      <p:font typeface="Neue Montreal Bold" panose="020B0604020202020204" charset="0"/>
      <p:regular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0282238"/>
            <a:ext cx="18288000" cy="0"/>
          </a:xfrm>
          <a:prstGeom prst="line">
            <a:avLst/>
          </a:prstGeom>
          <a:ln w="9525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07195" y="464929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40"/>
                </a:lnTo>
                <a:lnTo>
                  <a:pt x="0" y="1450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2916424" y="649553"/>
            <a:ext cx="11377470" cy="8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1"/>
              </a:lnSpc>
            </a:pPr>
            <a:r>
              <a:rPr lang="en-US" sz="7201" b="1" spc="-727" dirty="0">
                <a:solidFill>
                  <a:srgbClr val="191919">
                    <a:alpha val="9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RSOC-2026</a:t>
            </a:r>
          </a:p>
        </p:txBody>
      </p:sp>
      <p:sp>
        <p:nvSpPr>
          <p:cNvPr id="5" name="Freeform 5"/>
          <p:cNvSpPr/>
          <p:nvPr/>
        </p:nvSpPr>
        <p:spPr>
          <a:xfrm>
            <a:off x="131324" y="9258300"/>
            <a:ext cx="2571612" cy="873378"/>
          </a:xfrm>
          <a:custGeom>
            <a:avLst/>
            <a:gdLst/>
            <a:ahLst/>
            <a:cxnLst/>
            <a:rect l="l" t="t" r="r" b="b"/>
            <a:pathLst>
              <a:path w="2571612" h="873378">
                <a:moveTo>
                  <a:pt x="0" y="0"/>
                </a:moveTo>
                <a:lnTo>
                  <a:pt x="2571612" y="0"/>
                </a:lnTo>
                <a:lnTo>
                  <a:pt x="2571612" y="873378"/>
                </a:lnTo>
                <a:lnTo>
                  <a:pt x="0" y="873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2916424" y="9632601"/>
            <a:ext cx="13606988" cy="62388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796967" y="-701436"/>
            <a:ext cx="3149217" cy="3149217"/>
          </a:xfrm>
          <a:custGeom>
            <a:avLst/>
            <a:gdLst/>
            <a:ahLst/>
            <a:cxnLst/>
            <a:rect l="l" t="t" r="r" b="b"/>
            <a:pathLst>
              <a:path w="3149217" h="3149217">
                <a:moveTo>
                  <a:pt x="0" y="0"/>
                </a:moveTo>
                <a:lnTo>
                  <a:pt x="3149217" y="0"/>
                </a:lnTo>
                <a:lnTo>
                  <a:pt x="3149217" y="3149216"/>
                </a:lnTo>
                <a:lnTo>
                  <a:pt x="0" y="3149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004379" y="1876916"/>
            <a:ext cx="2796883" cy="1141730"/>
            <a:chOff x="0" y="0"/>
            <a:chExt cx="736628" cy="3007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6628" cy="300703"/>
            </a:xfrm>
            <a:custGeom>
              <a:avLst/>
              <a:gdLst/>
              <a:ahLst/>
              <a:cxnLst/>
              <a:rect l="l" t="t" r="r" b="b"/>
              <a:pathLst>
                <a:path w="736628" h="300703">
                  <a:moveTo>
                    <a:pt x="150351" y="0"/>
                  </a:moveTo>
                  <a:lnTo>
                    <a:pt x="586276" y="0"/>
                  </a:lnTo>
                  <a:cubicBezTo>
                    <a:pt x="626152" y="0"/>
                    <a:pt x="664395" y="15841"/>
                    <a:pt x="692591" y="44037"/>
                  </a:cubicBezTo>
                  <a:cubicBezTo>
                    <a:pt x="720787" y="72233"/>
                    <a:pt x="736628" y="110476"/>
                    <a:pt x="736628" y="150351"/>
                  </a:cubicBezTo>
                  <a:lnTo>
                    <a:pt x="736628" y="150351"/>
                  </a:lnTo>
                  <a:cubicBezTo>
                    <a:pt x="736628" y="190227"/>
                    <a:pt x="720787" y="228469"/>
                    <a:pt x="692591" y="256666"/>
                  </a:cubicBezTo>
                  <a:cubicBezTo>
                    <a:pt x="664395" y="284862"/>
                    <a:pt x="626152" y="300703"/>
                    <a:pt x="586276" y="300703"/>
                  </a:cubicBezTo>
                  <a:lnTo>
                    <a:pt x="150351" y="300703"/>
                  </a:lnTo>
                  <a:cubicBezTo>
                    <a:pt x="110476" y="300703"/>
                    <a:pt x="72233" y="284862"/>
                    <a:pt x="44037" y="256666"/>
                  </a:cubicBezTo>
                  <a:cubicBezTo>
                    <a:pt x="15841" y="228469"/>
                    <a:pt x="0" y="190227"/>
                    <a:pt x="0" y="150351"/>
                  </a:cubicBezTo>
                  <a:lnTo>
                    <a:pt x="0" y="150351"/>
                  </a:lnTo>
                  <a:cubicBezTo>
                    <a:pt x="0" y="110476"/>
                    <a:pt x="15841" y="72233"/>
                    <a:pt x="44037" y="44037"/>
                  </a:cubicBezTo>
                  <a:cubicBezTo>
                    <a:pt x="72233" y="15841"/>
                    <a:pt x="110476" y="0"/>
                    <a:pt x="150351" y="0"/>
                  </a:cubicBez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73662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dirty="0">
                  <a:solidFill>
                    <a:srgbClr val="020202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GROUP-33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1600" y="3380874"/>
            <a:ext cx="14478000" cy="632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36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Domain :–       Cyber Security</a:t>
            </a:r>
          </a:p>
          <a:p>
            <a:pPr marL="906785" lvl="1" indent="-453392">
              <a:lnSpc>
                <a:spcPts val="5880"/>
              </a:lnSpc>
              <a:buFont typeface="Arial"/>
              <a:buChar char="•"/>
            </a:pPr>
            <a:r>
              <a:rPr lang="en-US" sz="36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Problem Statement Title:- Automated     API     Security     Scanner  </a:t>
            </a:r>
          </a:p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36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Team Leader Name: - Rashi       Mishra</a:t>
            </a:r>
          </a:p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36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Group  No:- 33</a:t>
            </a:r>
          </a:p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36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Team Name:- Tech _Titans</a:t>
            </a:r>
          </a:p>
          <a:p>
            <a:pPr marL="906785" lvl="1" indent="-453392">
              <a:lnSpc>
                <a:spcPts val="5880"/>
              </a:lnSpc>
              <a:buFont typeface="Arial"/>
              <a:buChar char="•"/>
            </a:pPr>
            <a:r>
              <a:rPr lang="en-US" sz="36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Members:- Niharika     Saner</a:t>
            </a:r>
          </a:p>
          <a:p>
            <a:pPr marL="453393" lvl="1">
              <a:lnSpc>
                <a:spcPts val="5880"/>
              </a:lnSpc>
            </a:pPr>
            <a:r>
              <a:rPr lang="en-US" sz="36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                                                                                                                                                                                                                                   Mohit    Singh</a:t>
            </a:r>
          </a:p>
          <a:p>
            <a:pPr marL="453393" lvl="1">
              <a:lnSpc>
                <a:spcPts val="5880"/>
              </a:lnSpc>
            </a:pPr>
            <a:r>
              <a:rPr lang="en-US" sz="36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                                                                                                                                                                                                                                 Pravin    Lanje</a:t>
            </a:r>
          </a:p>
          <a:p>
            <a:pPr marL="237512" lvl="1" indent="-118756" algn="l">
              <a:lnSpc>
                <a:spcPts val="1540"/>
              </a:lnSpc>
              <a:buAutoNum type="arabicPeriod"/>
            </a:pPr>
            <a:endParaRPr lang="en-US" sz="3600" dirty="0">
              <a:solidFill>
                <a:srgbClr val="191919"/>
              </a:solidFill>
              <a:latin typeface="Aadil"/>
              <a:ea typeface="Aadil"/>
              <a:cs typeface="Aadil"/>
              <a:sym typeface="Aadi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02936" y="9782428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59528" y="911069"/>
            <a:ext cx="1244418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1"/>
              </a:lnSpc>
            </a:pPr>
            <a:r>
              <a:rPr lang="en-US" sz="7600" b="1" spc="-456" dirty="0">
                <a:solidFill>
                  <a:srgbClr val="000000"/>
                </a:solidFill>
                <a:latin typeface="Goudy Bold"/>
                <a:ea typeface="Goudy Bold"/>
                <a:cs typeface="Goudy Bold"/>
                <a:sym typeface="Goudy Bold"/>
              </a:rPr>
              <a:t>IDEA TITLE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652205" y="9565386"/>
            <a:ext cx="2407958" cy="661283"/>
            <a:chOff x="0" y="0"/>
            <a:chExt cx="634195" cy="174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4195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4195" cy="23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GROUP-33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8"/>
          <p:cNvSpPr/>
          <p:nvPr/>
        </p:nvSpPr>
        <p:spPr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2930000" y="9696477"/>
            <a:ext cx="12198330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057BC-B903-96E5-0AC6-D283245341FD}"/>
              </a:ext>
            </a:extLst>
          </p:cNvPr>
          <p:cNvSpPr txBox="1"/>
          <p:nvPr/>
        </p:nvSpPr>
        <p:spPr>
          <a:xfrm>
            <a:off x="1517670" y="2218925"/>
            <a:ext cx="15246330" cy="630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u="sng" dirty="0"/>
              <a:t>Synthia Flux</a:t>
            </a:r>
          </a:p>
          <a:p>
            <a:endParaRPr lang="en-US" dirty="0"/>
          </a:p>
          <a:p>
            <a:r>
              <a:rPr lang="en-US" sz="4400" b="1" dirty="0"/>
              <a:t>Automated API Security Scanner</a:t>
            </a:r>
            <a:r>
              <a:rPr lang="en-US" sz="4400" dirty="0"/>
              <a:t>🔒</a:t>
            </a:r>
          </a:p>
          <a:p>
            <a:r>
              <a:rPr lang="en-US" sz="2400" dirty="0"/>
              <a:t>Protecting APIs, Securing Data</a:t>
            </a:r>
          </a:p>
          <a:p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800" b="1" dirty="0"/>
              <a:t>• SYNTHIA FLUX is an automated API security scanner.</a:t>
            </a:r>
            <a:br>
              <a:rPr lang="en-US" sz="2800" b="1" dirty="0"/>
            </a:br>
            <a:r>
              <a:rPr lang="en-US" sz="2800" b="1" dirty="0"/>
              <a:t>• Users can paste an API URL to scan for vulnerabilities.</a:t>
            </a:r>
            <a:br>
              <a:rPr lang="en-US" sz="2800" b="1" dirty="0"/>
            </a:br>
            <a:r>
              <a:rPr lang="en-US" sz="2800" b="1" dirty="0"/>
              <a:t>• The system analyzes the API and detects security risks.</a:t>
            </a:r>
            <a:br>
              <a:rPr lang="en-US" sz="2800" b="1" dirty="0"/>
            </a:br>
            <a:r>
              <a:rPr lang="en-US" sz="2800" b="1" dirty="0"/>
              <a:t>• It generates a detailed security report after scanning.</a:t>
            </a:r>
            <a:br>
              <a:rPr lang="en-US" sz="2800" b="1" dirty="0"/>
            </a:br>
            <a:r>
              <a:rPr lang="en-US" sz="2800" b="1" dirty="0"/>
              <a:t>• Helps developers identify and fix security issues early.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07985D-F8B0-04B3-6194-44FC54373E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00" y="5371006"/>
            <a:ext cx="4267200" cy="14439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77880" y="1371374"/>
            <a:ext cx="12444184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1"/>
              </a:lnSpc>
            </a:pPr>
            <a:r>
              <a:rPr lang="en-US" sz="6400" b="1" spc="-384" dirty="0">
                <a:solidFill>
                  <a:srgbClr val="000000"/>
                </a:solidFill>
                <a:latin typeface="Goudy Bold"/>
                <a:ea typeface="Goudy Bold"/>
                <a:cs typeface="Goudy Bold"/>
                <a:sym typeface="Goudy Bold"/>
              </a:rPr>
              <a:t>FEASIBILITY AND VIABILITY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652205" y="9565386"/>
            <a:ext cx="2407958" cy="661283"/>
            <a:chOff x="0" y="0"/>
            <a:chExt cx="634195" cy="174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4195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4195" cy="23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GROUP-33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2930000" y="9696477"/>
            <a:ext cx="12198330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1631" y="3418488"/>
            <a:ext cx="16424553" cy="78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39782" y="2628901"/>
            <a:ext cx="12177640" cy="6019799"/>
          </a:xfrm>
          <a:custGeom>
            <a:avLst/>
            <a:gdLst/>
            <a:ahLst/>
            <a:cxnLst/>
            <a:rect l="l" t="t" r="r" b="b"/>
            <a:pathLst>
              <a:path w="9228841" h="6523595">
                <a:moveTo>
                  <a:pt x="0" y="0"/>
                </a:moveTo>
                <a:lnTo>
                  <a:pt x="9228841" y="0"/>
                </a:lnTo>
                <a:lnTo>
                  <a:pt x="9228841" y="6523596"/>
                </a:lnTo>
                <a:lnTo>
                  <a:pt x="0" y="652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3515" t="-23221" b="-23221"/>
            </a:stretch>
          </a:blip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600" b="1" dirty="0"/>
              <a:t>• SYNTHIA FLUX is feasible using web technologies like HTML, CSS, JavaScript, PHP, and MySQL.</a:t>
            </a:r>
            <a:br>
              <a:rPr lang="en-US" sz="2600" b="1" dirty="0"/>
            </a:br>
            <a:r>
              <a:rPr lang="en-US" sz="2600" b="1" dirty="0"/>
              <a:t>• The system can scan API URLs and analyze responses.</a:t>
            </a:r>
            <a:br>
              <a:rPr lang="en-US" sz="2600" b="1" dirty="0"/>
            </a:br>
            <a:r>
              <a:rPr lang="en-US" sz="2600" b="1" dirty="0"/>
              <a:t>• APIs are widely used, so the idea has real-world importance.</a:t>
            </a:r>
            <a:br>
              <a:rPr lang="en-US" sz="2600" b="1" dirty="0"/>
            </a:br>
            <a:r>
              <a:rPr lang="en-US" sz="2600" b="1" dirty="0"/>
              <a:t>• One challenge is handling complex API structures.</a:t>
            </a:r>
            <a:br>
              <a:rPr lang="en-US" sz="2600" b="1" dirty="0"/>
            </a:br>
            <a:r>
              <a:rPr lang="en-US" sz="2600" b="1" dirty="0"/>
              <a:t>• There may be false positives or incorrect vulnerability detection.</a:t>
            </a:r>
            <a:br>
              <a:rPr lang="en-US" sz="2600" b="1" dirty="0"/>
            </a:br>
            <a:r>
              <a:rPr lang="en-US" sz="2600" b="1" dirty="0"/>
              <a:t>• Scanning many APIs can cause performance issues.</a:t>
            </a:r>
            <a:br>
              <a:rPr lang="en-US" sz="2600" b="1" dirty="0"/>
            </a:br>
            <a:r>
              <a:rPr lang="en-US" sz="2600" b="1" dirty="0"/>
              <a:t>• Different API authentication methods may create compatibility problems.</a:t>
            </a:r>
            <a:br>
              <a:rPr lang="en-US" sz="2600" b="1" dirty="0"/>
            </a:br>
            <a:r>
              <a:rPr lang="en-US" sz="2600" b="1" dirty="0"/>
              <a:t>• Using better scanning algorithms can improve accuracy.</a:t>
            </a:r>
            <a:br>
              <a:rPr lang="en-US" sz="2600" b="1" dirty="0"/>
            </a:br>
            <a:r>
              <a:rPr lang="en-US" sz="2600" b="1" dirty="0"/>
              <a:t>• Regular updates and testing can reduce errors.</a:t>
            </a:r>
            <a:br>
              <a:rPr lang="en-US" sz="2600" b="1" dirty="0"/>
            </a:br>
            <a:r>
              <a:rPr lang="en-US" sz="2600" b="1" dirty="0"/>
              <a:t>• The project is scalable and useful for improving API security.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C127F7A9-AC52-7E53-92C7-C287A451B105}"/>
              </a:ext>
            </a:extLst>
          </p:cNvPr>
          <p:cNvSpPr/>
          <p:nvPr/>
        </p:nvSpPr>
        <p:spPr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F9F0EAEE-B967-639A-F3A5-C4475EDC0C7E}"/>
              </a:ext>
            </a:extLst>
          </p:cNvPr>
          <p:cNvSpPr/>
          <p:nvPr/>
        </p:nvSpPr>
        <p:spPr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77880" y="1371374"/>
            <a:ext cx="12444184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1"/>
              </a:lnSpc>
            </a:pPr>
            <a:r>
              <a:rPr lang="en-US" sz="6400" b="1" spc="-384">
                <a:solidFill>
                  <a:srgbClr val="000000"/>
                </a:solidFill>
                <a:latin typeface="Goudy Bold"/>
                <a:ea typeface="Goudy Bold"/>
                <a:cs typeface="Goudy Bold"/>
                <a:sym typeface="Goudy Bold"/>
              </a:rPr>
              <a:t>IMPACT AND BENEFITS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652205" y="9565386"/>
            <a:ext cx="2407958" cy="661283"/>
            <a:chOff x="0" y="0"/>
            <a:chExt cx="634195" cy="174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4195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4195" cy="23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GROUP-33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2930000" y="9696477"/>
            <a:ext cx="12198330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433FD921-87B2-8B9A-9993-4F40C68F3D26}"/>
              </a:ext>
            </a:extLst>
          </p:cNvPr>
          <p:cNvSpPr/>
          <p:nvPr/>
        </p:nvSpPr>
        <p:spPr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B4FF7E-B2C8-E73A-5451-5F1E2F833FD6}"/>
              </a:ext>
            </a:extLst>
          </p:cNvPr>
          <p:cNvSpPr/>
          <p:nvPr/>
        </p:nvSpPr>
        <p:spPr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4CF58-515C-0D27-34B3-33758909B464}"/>
              </a:ext>
            </a:extLst>
          </p:cNvPr>
          <p:cNvSpPr txBox="1"/>
          <p:nvPr/>
        </p:nvSpPr>
        <p:spPr>
          <a:xfrm>
            <a:off x="1271816" y="2805586"/>
            <a:ext cx="15873184" cy="538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/>
              <a:t>The SYNTHIA FLUX platform provides several benefits for developers and organizations.</a:t>
            </a:r>
          </a:p>
          <a:p>
            <a:pPr>
              <a:lnSpc>
                <a:spcPct val="150000"/>
              </a:lnSpc>
              <a:buNone/>
            </a:pPr>
            <a:endParaRPr lang="en-US" sz="3200" b="1" dirty="0"/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• Detects API security vulnerabilities automatically</a:t>
            </a:r>
            <a:br>
              <a:rPr lang="en-US" sz="2800" b="1" dirty="0"/>
            </a:br>
            <a:r>
              <a:rPr lang="en-US" sz="2800" b="1" dirty="0"/>
              <a:t>• Helps prevent data breaches and unauthorized access</a:t>
            </a:r>
            <a:br>
              <a:rPr lang="en-US" sz="2800" b="1" dirty="0"/>
            </a:br>
            <a:r>
              <a:rPr lang="en-US" sz="2800" b="1" dirty="0"/>
              <a:t>• Provides risk classification such as Critical, High, Medium, and Low</a:t>
            </a:r>
            <a:br>
              <a:rPr lang="en-US" sz="2800" b="1" dirty="0"/>
            </a:br>
            <a:r>
              <a:rPr lang="en-US" sz="2800" b="1" dirty="0"/>
              <a:t>• Generates clear and easy-to-understand security reports</a:t>
            </a:r>
            <a:br>
              <a:rPr lang="en-US" sz="2800" b="1" dirty="0"/>
            </a:br>
            <a:r>
              <a:rPr lang="en-US" sz="2800" b="1" dirty="0"/>
              <a:t>• Improves security awareness among developers</a:t>
            </a:r>
            <a:br>
              <a:rPr lang="en-US" sz="2800" b="1" dirty="0"/>
            </a:br>
            <a:r>
              <a:rPr lang="en-US" sz="2800" b="1" dirty="0"/>
              <a:t>• Saves time compared to manual API security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77880" y="1371374"/>
            <a:ext cx="12444184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1"/>
              </a:lnSpc>
            </a:pPr>
            <a:r>
              <a:rPr lang="en-US" sz="6400" b="1" spc="-384" dirty="0">
                <a:solidFill>
                  <a:srgbClr val="020202"/>
                </a:solidFill>
                <a:latin typeface="Goudy Bold"/>
                <a:ea typeface="Goudy Bold"/>
                <a:cs typeface="Goudy Bold"/>
                <a:sym typeface="Goudy Bold"/>
              </a:rPr>
              <a:t>RESEARCH AND REFERENCES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652205" y="9565386"/>
            <a:ext cx="2407958" cy="661283"/>
            <a:chOff x="0" y="0"/>
            <a:chExt cx="634195" cy="174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4195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4195" cy="23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GROUP-33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2930000" y="9696477"/>
            <a:ext cx="12198330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  <p:sp>
        <p:nvSpPr>
          <p:cNvPr id="12" name="Freeform 12"/>
          <p:cNvSpPr/>
          <p:nvPr/>
        </p:nvSpPr>
        <p:spPr>
          <a:xfrm>
            <a:off x="682064" y="2700605"/>
            <a:ext cx="15240000" cy="6128307"/>
          </a:xfrm>
          <a:custGeom>
            <a:avLst/>
            <a:gdLst/>
            <a:ahLst/>
            <a:cxnLst/>
            <a:rect l="l" t="t" r="r" b="b"/>
            <a:pathLst>
              <a:path w="9228841" h="6523595">
                <a:moveTo>
                  <a:pt x="0" y="0"/>
                </a:moveTo>
                <a:lnTo>
                  <a:pt x="9228841" y="0"/>
                </a:lnTo>
                <a:lnTo>
                  <a:pt x="9228841" y="6523596"/>
                </a:lnTo>
                <a:lnTo>
                  <a:pt x="0" y="652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3515" t="-23221" b="-23221"/>
            </a:stretch>
          </a:blipFill>
        </p:spPr>
        <p:txBody>
          <a:bodyPr/>
          <a:lstStyle/>
          <a:p>
            <a:r>
              <a:rPr lang="en-US" sz="2800" b="1" dirty="0"/>
              <a:t>Research</a:t>
            </a:r>
          </a:p>
          <a:p>
            <a:endParaRPr lang="en-US" sz="2800" b="1" dirty="0"/>
          </a:p>
          <a:p>
            <a:r>
              <a:rPr lang="en-US" sz="2800" b="1" dirty="0"/>
              <a:t>• Studied common API vulnerabilities and security risks</a:t>
            </a:r>
            <a:br>
              <a:rPr lang="en-US" sz="2800" b="1" dirty="0"/>
            </a:br>
            <a:r>
              <a:rPr lang="en-US" sz="2800" b="1" dirty="0"/>
              <a:t>• Analyzed methods for automated API vulnerability detection</a:t>
            </a:r>
            <a:br>
              <a:rPr lang="en-US" sz="2800" b="1" dirty="0"/>
            </a:br>
            <a:r>
              <a:rPr lang="en-US" sz="2800" b="1" dirty="0"/>
              <a:t>• Reviewed API security testing tools and techniques</a:t>
            </a:r>
            <a:br>
              <a:rPr lang="en-US" sz="2800" b="1" dirty="0"/>
            </a:br>
            <a:r>
              <a:rPr lang="en-US" sz="2800" b="1" dirty="0"/>
              <a:t>• Researched secure API development practices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sz="2800" b="1" dirty="0"/>
              <a:t>References</a:t>
            </a:r>
          </a:p>
          <a:p>
            <a:endParaRPr lang="en-US" sz="2800" b="1" dirty="0"/>
          </a:p>
          <a:p>
            <a:r>
              <a:rPr lang="en-US" sz="2800" b="1" dirty="0"/>
              <a:t>• Google Cloud API Security Best Practices</a:t>
            </a:r>
            <a:br>
              <a:rPr lang="en-US" sz="2800" b="1" dirty="0"/>
            </a:br>
            <a:r>
              <a:rPr lang="en-US" sz="2800" b="1" dirty="0"/>
              <a:t>• Research papers on API vulnerability scanning</a:t>
            </a:r>
            <a:br>
              <a:rPr lang="en-US" sz="2800" b="1" dirty="0"/>
            </a:br>
            <a:r>
              <a:rPr lang="en-US" sz="2800" b="1" dirty="0"/>
              <a:t>• Cybersecurity blogs and technical documentation</a:t>
            </a:r>
          </a:p>
          <a:p>
            <a:endParaRPr lang="en-US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53D9FBD5-CA87-7A84-7DFB-051501905E90}"/>
              </a:ext>
            </a:extLst>
          </p:cNvPr>
          <p:cNvSpPr/>
          <p:nvPr/>
        </p:nvSpPr>
        <p:spPr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57A1044B-3E2F-99DD-EC48-178A5C35981E}"/>
              </a:ext>
            </a:extLst>
          </p:cNvPr>
          <p:cNvSpPr/>
          <p:nvPr/>
        </p:nvSpPr>
        <p:spPr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52205" y="9565386"/>
            <a:ext cx="2407958" cy="661283"/>
            <a:chOff x="0" y="0"/>
            <a:chExt cx="634195" cy="1741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4195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34195" cy="23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GROUP-33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2930000" y="9696477"/>
            <a:ext cx="12198330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  <p:sp>
        <p:nvSpPr>
          <p:cNvPr id="14" name="Freeform 14"/>
          <p:cNvSpPr/>
          <p:nvPr/>
        </p:nvSpPr>
        <p:spPr>
          <a:xfrm>
            <a:off x="4288580" y="2071461"/>
            <a:ext cx="9228841" cy="6523595"/>
          </a:xfrm>
          <a:custGeom>
            <a:avLst/>
            <a:gdLst/>
            <a:ahLst/>
            <a:cxnLst/>
            <a:rect l="l" t="t" r="r" b="b"/>
            <a:pathLst>
              <a:path w="9228841" h="6523595">
                <a:moveTo>
                  <a:pt x="0" y="0"/>
                </a:moveTo>
                <a:lnTo>
                  <a:pt x="9228841" y="0"/>
                </a:lnTo>
                <a:lnTo>
                  <a:pt x="9228841" y="6523596"/>
                </a:lnTo>
                <a:lnTo>
                  <a:pt x="0" y="652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3515" t="-23221" b="-232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CC857E0C-6112-823E-710E-DAAE24CD6773}"/>
              </a:ext>
            </a:extLst>
          </p:cNvPr>
          <p:cNvSpPr/>
          <p:nvPr/>
        </p:nvSpPr>
        <p:spPr>
          <a:xfrm>
            <a:off x="15457048" y="-800100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6EECAC61-2C34-C1B8-BBCA-B56D25A1C906}"/>
              </a:ext>
            </a:extLst>
          </p:cNvPr>
          <p:cNvSpPr/>
          <p:nvPr/>
        </p:nvSpPr>
        <p:spPr>
          <a:xfrm>
            <a:off x="685800" y="38100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AE277C-8081-12D3-1EBA-6031C45E98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62100"/>
            <a:ext cx="7902875" cy="3870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E2EF33-9D45-562F-2FF3-463F5C0955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270" y="1562100"/>
            <a:ext cx="7902875" cy="38701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908029-4B7C-E5D9-113F-6C76614EAC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5548888"/>
            <a:ext cx="7902875" cy="37094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E776DBC-991D-C280-4ACC-570DC8DBC9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397" y="5586990"/>
            <a:ext cx="7802623" cy="36713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439</Words>
  <Application>Microsoft Office PowerPoint</Application>
  <PresentationFormat>Custom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Aadil</vt:lpstr>
      <vt:lpstr>Arial</vt:lpstr>
      <vt:lpstr>Calibri</vt:lpstr>
      <vt:lpstr>Poppins</vt:lpstr>
      <vt:lpstr>Neue Montreal Bold</vt:lpstr>
      <vt:lpstr>Goudy Bold</vt:lpstr>
      <vt:lpstr>Canva Sans Bold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RSOC-2026</dc:title>
  <dc:creator>Nihal Parkhi</dc:creator>
  <cp:lastModifiedBy>pravin lanje</cp:lastModifiedBy>
  <cp:revision>10</cp:revision>
  <dcterms:created xsi:type="dcterms:W3CDTF">2006-08-16T00:00:00Z</dcterms:created>
  <dcterms:modified xsi:type="dcterms:W3CDTF">2026-03-13T10:05:15Z</dcterms:modified>
  <dc:identifier>DAHDqI-E1TY</dc:identifier>
</cp:coreProperties>
</file>